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76656"/>
            <a:ext cx="56692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16B60"/>
                </a:solidFill>
                <a:latin typeface="나눔스퀘어OTF_ac ExtraBold"/>
              </a:rPr>
              <a:t>Repurchase Delay Risk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98448"/>
            <a:ext cx="7863840" cy="1417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82321"/>
                </a:solidFill>
                <a:latin typeface="나눔스퀘어OTF_ac ExtraBold"/>
              </a:rPr>
              <a:t>고빈도 고객의
재구매 지연 위험 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2999232"/>
            <a:ext cx="8138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965"/>
                </a:solidFill>
                <a:latin typeface="나눔스퀘어OTF_ac"/>
              </a:rPr>
              <a:t>이커머스 주문 이력 기반 재구매 지연 위험 예측 · Binary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5029200"/>
            <a:ext cx="1828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6B60"/>
                </a:solidFill>
                <a:latin typeface="나눔스퀘어OTF_ac ExtraBold"/>
              </a:rPr>
              <a:t>팀 이민성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5349240"/>
            <a:ext cx="46634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965"/>
                </a:solidFill>
                <a:latin typeface="나눔스퀘어OTF_ac"/>
              </a:rPr>
              <a:t>이민성 · 이재형 · 전시훈 · 김재현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6181344"/>
            <a:ext cx="4389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5C6965"/>
                </a:solidFill>
                <a:latin typeface="나눔스퀘어OTF_ac"/>
              </a:rPr>
              <a:t>Deep Learning Applications · 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배경 및 목적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9966960" cy="15087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marL="228600" indent="-114300">
              <a:spcAft>
                <a:spcPts val="400"/>
              </a:spcAft>
              <a:defRPr sz="1300">
                <a:solidFill>
                  <a:srgbClr val="182321"/>
                </a:solidFill>
                <a:latin typeface="나눔스퀘어OTF_ac"/>
              </a:defRPr>
            </a:pPr>
            <a:r>
              <a:t>온라인 마켓에서 반복 구매 고객은 매출 기여도가 높은 고객군일 가능성이 크다.</a:t>
            </a:r>
          </a:p>
          <a:p>
            <a:pPr marL="228600" indent="-114300">
              <a:spcAft>
                <a:spcPts val="400"/>
              </a:spcAft>
              <a:defRPr sz="1300">
                <a:solidFill>
                  <a:srgbClr val="182321"/>
                </a:solidFill>
                <a:latin typeface="나눔스퀘어OTF_ac"/>
              </a:defRPr>
            </a:pPr>
            <a:r>
              <a:t>이 고객군의 주문 간격이 평소보다 길어지면 구매 빈도 감소나 장기 미구매의 초기 신호로 볼 수 있다.</a:t>
            </a:r>
          </a:p>
          <a:p>
            <a:pPr marL="228600" indent="-114300">
              <a:spcAft>
                <a:spcPts val="400"/>
              </a:spcAft>
              <a:defRPr sz="1300">
                <a:solidFill>
                  <a:srgbClr val="182321"/>
                </a:solidFill>
                <a:latin typeface="나눔스퀘어OTF_ac"/>
              </a:defRPr>
            </a:pPr>
            <a:r>
              <a:t>따라서 다음 주문이 늦어질 위험을 미리 예측하면 쿠폰, 알림, 추천 등 고객 유지 전략 대상을 선별할 수 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977639"/>
            <a:ext cx="4754880" cy="987552"/>
          </a:xfrm>
          <a:prstGeom prst="rect">
            <a:avLst/>
          </a:prstGeom>
          <a:solidFill>
            <a:srgbClr val="EBF6F3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400" b="1">
                <a:solidFill>
                  <a:srgbClr val="182321"/>
                </a:solidFill>
                <a:latin typeface="나눔스퀘어OTF_ac ExtraBold"/>
              </a:rPr>
              <a:t>목적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5C6965"/>
                </a:solidFill>
                <a:latin typeface="나눔스퀘어OTF_ac"/>
              </a:rPr>
              <a:t>고빈도 고객의 구매 지연 위험을 조기에 탐지해 고객 유지 전략의 우선순위를 정한다.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3977639"/>
            <a:ext cx="4754880" cy="987552"/>
          </a:xfrm>
          <a:prstGeom prst="rect">
            <a:avLst/>
          </a:prstGeom>
          <a:solidFill>
            <a:srgbClr val="EDF2FA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400" b="1">
                <a:solidFill>
                  <a:srgbClr val="182321"/>
                </a:solidFill>
                <a:latin typeface="나눔스퀘어OTF_ac ExtraBold"/>
              </a:rPr>
              <a:t>모델링 문제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5C6965"/>
                </a:solidFill>
                <a:latin typeface="나눔스퀘어OTF_ac"/>
              </a:rPr>
              <a:t>과거 주문 이력만 사용해 다음 주문의 target_gap이 15일을 넘는지 예측한다.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예측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03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737360"/>
          <a:ext cx="103327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466344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구분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정의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핵심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l"/>
                      <a:r>
                        <a:rPr sz="1000" b="0">
                          <a:solidFill>
                            <a:srgbClr val="5C6965"/>
                          </a:solidFill>
                          <a:latin typeface="나눔스퀘어OTF_ac"/>
                        </a:rPr>
                        <a:t>입력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00" b="0">
                          <a:solidFill>
                            <a:srgbClr val="5C6965"/>
                          </a:solidFill>
                          <a:latin typeface="나눔스퀘어OTF_ac"/>
                        </a:rPr>
                        <a:t>target 주문 이전의 주문 이력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00" b="0">
                          <a:solidFill>
                            <a:srgbClr val="5C6965"/>
                          </a:solidFill>
                          <a:latin typeface="나눔스퀘어OTF_ac"/>
                        </a:rPr>
                        <a:t>미래 정보 없이 과거 기록만 사용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l"/>
                      <a:r>
                        <a:rPr sz="1000" b="0">
                          <a:solidFill>
                            <a:srgbClr val="5C6965"/>
                          </a:solidFill>
                          <a:latin typeface="나눔스퀘어OTF_ac"/>
                        </a:rPr>
                        <a:t>정답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00" b="0">
                          <a:solidFill>
                            <a:srgbClr val="5C6965"/>
                          </a:solidFill>
                          <a:latin typeface="나눔스퀘어OTF_ac"/>
                        </a:rPr>
                        <a:t>target 주문의 target_gap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00" b="0">
                          <a:solidFill>
                            <a:srgbClr val="5C6965"/>
                          </a:solidFill>
                          <a:latin typeface="나눔스퀘어OTF_ac"/>
                        </a:rPr>
                        <a:t>실제로 며칠 뒤 재구매했는지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l"/>
                      <a:r>
                        <a:rPr sz="1000" b="0">
                          <a:solidFill>
                            <a:srgbClr val="5C6965"/>
                          </a:solidFill>
                          <a:latin typeface="나눔스퀘어OTF_ac"/>
                        </a:rPr>
                        <a:t>라벨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00" b="0">
                          <a:solidFill>
                            <a:srgbClr val="5C6965"/>
                          </a:solidFill>
                          <a:latin typeface="나눔스퀘어OTF_ac"/>
                        </a:rPr>
                        <a:t>target_gap &gt; 15 → 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00" b="0">
                          <a:solidFill>
                            <a:srgbClr val="5C6965"/>
                          </a:solidFill>
                          <a:latin typeface="나눔스퀘어OTF_ac"/>
                        </a:rPr>
                        <a:t>15일 초과를 지연 위험으로 정의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l"/>
                      <a:r>
                        <a:rPr sz="1000" b="0">
                          <a:solidFill>
                            <a:srgbClr val="5C6965"/>
                          </a:solidFill>
                          <a:latin typeface="나눔스퀘어OTF_ac"/>
                        </a:rPr>
                        <a:t>출력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00" b="0">
                          <a:solidFill>
                            <a:srgbClr val="5C6965"/>
                          </a:solidFill>
                          <a:latin typeface="나눔스퀘어OTF_ac"/>
                        </a:rPr>
                        <a:t>delay_risk score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00" b="0">
                          <a:solidFill>
                            <a:srgbClr val="5C6965"/>
                          </a:solidFill>
                          <a:latin typeface="나눔스퀘어OTF_ac"/>
                        </a:rPr>
                        <a:t>위험 고객 후보를 score로 정렬 가능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4617720"/>
            <a:ext cx="98755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6B60"/>
                </a:solidFill>
                <a:latin typeface="나눔스퀘어OTF_ac ExtraBold"/>
              </a:rPr>
              <a:t>예: 25번째 주문이 target이면, 모델은 24번째 주문까지의 기록만 보고 25번째 주문이 15일보다 늦어졌는지를 예측한다.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데이터셋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577840" cy="1645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marL="228600" indent="-114300">
              <a:spcAft>
                <a:spcPts val="400"/>
              </a:spcAft>
              <a:defRPr sz="1200">
                <a:solidFill>
                  <a:srgbClr val="182321"/>
                </a:solidFill>
                <a:latin typeface="나눔스퀘어OTF_ac"/>
              </a:defRPr>
            </a:pPr>
            <a:r>
              <a:t>Instacart는 미국 온라인 장보기 서비스의 공개 주문 데이터셋이다.</a:t>
            </a:r>
          </a:p>
          <a:p>
            <a:pPr marL="228600" indent="-114300">
              <a:spcAft>
                <a:spcPts val="400"/>
              </a:spcAft>
              <a:defRPr sz="1200">
                <a:solidFill>
                  <a:srgbClr val="182321"/>
                </a:solidFill>
                <a:latin typeface="나눔스퀘어OTF_ac"/>
              </a:defRPr>
            </a:pPr>
            <a:r>
              <a:t>고객별 주문 순서, 주문 요일, 주문 시간, 직전 주문 이후 경과일을 포함한다.</a:t>
            </a:r>
          </a:p>
          <a:p>
            <a:pPr marL="228600" indent="-114300">
              <a:spcAft>
                <a:spcPts val="400"/>
              </a:spcAft>
              <a:defRPr sz="1200">
                <a:solidFill>
                  <a:srgbClr val="182321"/>
                </a:solidFill>
                <a:latin typeface="나눔스퀘어OTF_ac"/>
              </a:defRPr>
            </a:pPr>
            <a:r>
              <a:t>반복 구매 간격을 직접 계산할 수 있어 ‘다음 주문 지연 위험’ 문제로 전환하기 적합하다.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874519"/>
            <a:ext cx="1417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16B60"/>
                </a:solidFill>
                <a:latin typeface="나눔스퀘어OTF_ac ExtraBold"/>
              </a:rPr>
              <a:t>206,209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21991"/>
            <a:ext cx="14173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C6965"/>
                </a:solidFill>
                <a:latin typeface="나눔스퀘어OTF_ac"/>
              </a:rPr>
              <a:t>전체 고객 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874519"/>
            <a:ext cx="1600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2A5484"/>
                </a:solidFill>
                <a:latin typeface="나눔스퀘어OTF_ac ExtraBold"/>
              </a:rPr>
              <a:t>3,421,083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221991"/>
            <a:ext cx="1600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C6965"/>
                </a:solidFill>
                <a:latin typeface="나눔스퀘어OTF_ac"/>
              </a:rPr>
              <a:t>전체 주문 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1874519"/>
            <a:ext cx="13258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16B60"/>
                </a:solidFill>
                <a:latin typeface="나눔스퀘어OTF_ac ExtraBold"/>
              </a:rPr>
              <a:t>42,499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2221991"/>
            <a:ext cx="1325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C6965"/>
                </a:solidFill>
                <a:latin typeface="나눔스퀘어OTF_ac"/>
              </a:rPr>
              <a:t>최종 샘플 수</a:t>
            </a:r>
          </a:p>
        </p:txBody>
      </p:sp>
      <p:pic>
        <p:nvPicPr>
          <p:cNvPr id="15" name="Picture 14" descr="instacart_service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990" y="2834640"/>
            <a:ext cx="4103658" cy="20299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29400" y="4956048"/>
            <a:ext cx="4389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5C6965"/>
                </a:solidFill>
                <a:latin typeface="나눔스퀘어OTF_ac"/>
              </a:rPr>
              <a:t>Instacart 서비스 화면 예시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623560"/>
            <a:ext cx="96012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6B60"/>
                </a:solidFill>
                <a:latin typeface="나눔스퀘어OTF_ac ExtraBold"/>
              </a:rPr>
              <a:t>핵심은 고객별 주문 순서와 주문 간격을 이용해 다음 주문 지연 위험을 정의할 수 있다는 점이다.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기본 변수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05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64208"/>
          <a:ext cx="109728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83325"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변수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유형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의미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사용 방식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</a:tr>
              <a:tr h="483325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user_id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ID/범주형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고객 식별자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고객 단위 샘플 구성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order_number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순서형 숫자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고객 내 몇 번째 주문인지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target 이전 주문 순서 구성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days_since_prior_order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수치형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직전 주문 이후 경과일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주문 간격 feature 및 label 생성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order_dow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범주형/순환형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주문 요일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요일 패턴, sin/cos 변환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order_hour_of_day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수치형/순환형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주문 시간대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시간대 패턴, sin/cos 변환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target_gap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수치형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target 주문의 재구매 간격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label 생성용; 모델 입력 아님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9808" y="5440680"/>
            <a:ext cx="99669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6B60"/>
                </a:solidFill>
                <a:latin typeface="나눔스퀘어OTF_ac ExtraBold"/>
              </a:rPr>
              <a:t>target_gap은 모델 입력 변수가 아니라 정답 label을 만들기 위한 변수다.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전처리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93392"/>
            <a:ext cx="2148840" cy="1234440"/>
          </a:xfrm>
          <a:prstGeom prst="rect">
            <a:avLst/>
          </a:prstGeom>
          <a:solidFill>
            <a:srgbClr val="EBF6F3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원본 주문 데이터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5C6965"/>
                </a:solidFill>
                <a:latin typeface="나눔스퀘어OTF_ac"/>
              </a:rPr>
              <a:t>고객별 주문 이력
orders.csv 중심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395728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16B60"/>
                </a:solidFill>
                <a:latin typeface="나눔스퀘어OTF_ac ExtraBold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993392"/>
            <a:ext cx="2148840" cy="1234440"/>
          </a:xfrm>
          <a:prstGeom prst="rect">
            <a:avLst/>
          </a:prstGeom>
          <a:solidFill>
            <a:srgbClr val="EDF2FA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고객별 순서 정렬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5C6965"/>
                </a:solidFill>
                <a:latin typeface="나눔스퀘어OTF_ac"/>
              </a:rPr>
              <a:t>user_id와 order_number
기준 정렬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395728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16B60"/>
                </a:solidFill>
                <a:latin typeface="나눔스퀘어OTF_ac ExtraBold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993392"/>
            <a:ext cx="2148840" cy="1234440"/>
          </a:xfrm>
          <a:prstGeom prst="rect">
            <a:avLst/>
          </a:prstGeom>
          <a:solidFill>
            <a:srgbClr val="FCF2E7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target 기준 생성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5C6965"/>
                </a:solidFill>
                <a:latin typeface="나눔스퀘어OTF_ac"/>
              </a:rPr>
              <a:t>target 이전 feature
+ target_gap 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395728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16B60"/>
                </a:solidFill>
                <a:latin typeface="나눔스퀘어OTF_ac ExtraBold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1993392"/>
            <a:ext cx="2148840" cy="1234440"/>
          </a:xfrm>
          <a:prstGeom prst="rect">
            <a:avLst/>
          </a:prstGeom>
          <a:solidFill>
            <a:srgbClr val="EBF6F3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model_base_hv.csv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5C6965"/>
                </a:solidFill>
                <a:latin typeface="나눔스퀘어OTF_ac"/>
              </a:rPr>
              <a:t>1 user = 1 sample
42,499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14800"/>
            <a:ext cx="9509760" cy="9601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marL="228600" indent="-114300">
              <a:spcAft>
                <a:spcPts val="400"/>
              </a:spcAft>
              <a:defRPr sz="1100">
                <a:solidFill>
                  <a:srgbClr val="182321"/>
                </a:solidFill>
                <a:latin typeface="나눔스퀘어OTF_ac"/>
              </a:defRPr>
            </a:pPr>
            <a:r>
              <a:t>전처리는 고객별 주문 이력을 시간 순서대로 정리한 뒤 target 주문 기준으로 수행했다.</a:t>
            </a:r>
          </a:p>
          <a:p>
            <a:pPr marL="228600" indent="-114300">
              <a:spcAft>
                <a:spcPts val="400"/>
              </a:spcAft>
              <a:defRPr sz="1100">
                <a:solidFill>
                  <a:srgbClr val="182321"/>
                </a:solidFill>
                <a:latin typeface="나눔스퀘어OTF_ac"/>
              </a:defRPr>
            </a:pPr>
            <a:r>
              <a:t>target 주문은 feature 생성에는 쓰지 않고 label 생성에만 사용했다.</a:t>
            </a:r>
          </a:p>
          <a:p>
            <a:pPr marL="228600" indent="-114300">
              <a:spcAft>
                <a:spcPts val="400"/>
              </a:spcAft>
              <a:defRPr sz="1100">
                <a:solidFill>
                  <a:srgbClr val="182321"/>
                </a:solidFill>
                <a:latin typeface="나눔스퀘어OTF_ac"/>
              </a:defRPr>
            </a:pPr>
            <a:r>
              <a:t>최종 기준 데이터 파일은 model_base_hv.csv이다.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고빈도 고객 및 타깃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828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16B60"/>
                </a:solidFill>
                <a:latin typeface="나눔스퀘어OTF_ac ExtraBold"/>
              </a:rPr>
              <a:t>상위 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21991"/>
            <a:ext cx="1828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C6965"/>
                </a:solidFill>
                <a:latin typeface="나눔스퀘어OTF_ac"/>
              </a:rPr>
              <a:t>고빈도 고객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874519"/>
            <a:ext cx="1828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2A5484"/>
                </a:solidFill>
                <a:latin typeface="나눔스퀘어OTF_ac ExtraBold"/>
              </a:rPr>
              <a:t>24회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21991"/>
            <a:ext cx="1828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C6965"/>
                </a:solidFill>
                <a:latin typeface="나눔스퀘어OTF_ac"/>
              </a:rPr>
              <a:t>최종 모델링 데이터 기준값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74519"/>
            <a:ext cx="1828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16B60"/>
                </a:solidFill>
                <a:latin typeface="나눔스퀘어OTF_ac ExtraBold"/>
              </a:rPr>
              <a:t>15일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221991"/>
            <a:ext cx="1828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C6965"/>
                </a:solidFill>
                <a:latin typeface="나눔스퀘어OTF_ac"/>
              </a:rPr>
              <a:t>운영 라벨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874519"/>
            <a:ext cx="1828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2A5484"/>
                </a:solidFill>
                <a:latin typeface="나눔스퀘어OTF_ac ExtraBold"/>
              </a:rPr>
              <a:t>18.65%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221991"/>
            <a:ext cx="1828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C6965"/>
                </a:solidFill>
                <a:latin typeface="나눔스퀘어OTF_ac"/>
              </a:rPr>
              <a:t>positive ratio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520440"/>
            <a:ext cx="4754880" cy="1143000"/>
          </a:xfrm>
          <a:prstGeom prst="rect">
            <a:avLst/>
          </a:prstGeom>
          <a:solidFill>
            <a:srgbClr val="EBF6F3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분위수 재집계</a:t>
            </a:r>
          </a:p>
          <a:p>
            <a:pPr>
              <a:spcBef>
                <a:spcPts val="600"/>
              </a:spcBef>
            </a:pPr>
            <a:r>
              <a:rPr sz="800" b="0">
                <a:solidFill>
                  <a:srgbClr val="5C6965"/>
                </a:solidFill>
                <a:latin typeface="나눔스퀘어OTF_ac"/>
              </a:rPr>
              <a:t>최종 모델링 데이터 기준 target_gap 분위수는
q80=15일 (80분위수, 초과 구간은 약 상위 20%)
q90=24일, q95=30일이다.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3520440"/>
            <a:ext cx="5120640" cy="1143000"/>
          </a:xfrm>
          <a:prstGeom prst="rect">
            <a:avLst/>
          </a:prstGeom>
          <a:solidFill>
            <a:srgbClr val="EDF2FA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해석</a:t>
            </a:r>
          </a:p>
          <a:p>
            <a:pPr>
              <a:spcBef>
                <a:spcPts val="600"/>
              </a:spcBef>
            </a:pPr>
            <a:r>
              <a:rPr sz="900" b="0">
                <a:solidFill>
                  <a:srgbClr val="5C6965"/>
                </a:solidFill>
                <a:latin typeface="나눔스퀘어OTF_ac"/>
              </a:rPr>
              <a:t>q80=15일은 약 80%의 target_gap이 15일 이하라는 뜻이다. 따라서 15일 초과를 상대적으로 늦은 재구매로 본다.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83480"/>
            <a:ext cx="99669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6B60"/>
                </a:solidFill>
                <a:latin typeface="나눔스퀘어OTF_ac ExtraBold"/>
              </a:rPr>
              <a:t>고빈도 고객군은 총 주문 횟수 상위 20%로 정의했고, 실제 기준값은 24회였다.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데이터 샘플 생성 방식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2057400" cy="960120"/>
          </a:xfrm>
          <a:prstGeom prst="rect">
            <a:avLst/>
          </a:prstGeom>
          <a:solidFill>
            <a:srgbClr val="EBF6F3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200" b="1">
                <a:solidFill>
                  <a:srgbClr val="182321"/>
                </a:solidFill>
                <a:latin typeface="나눔스퀘어OTF_ac ExtraBold"/>
              </a:rPr>
              <a:t>1. 과거 주문 이력</a:t>
            </a:r>
          </a:p>
          <a:p>
            <a:pPr>
              <a:spcBef>
                <a:spcPts val="600"/>
              </a:spcBef>
            </a:pPr>
            <a:r>
              <a:rPr sz="900" b="0">
                <a:solidFill>
                  <a:srgbClr val="5C6965"/>
                </a:solidFill>
                <a:latin typeface="나눔스퀘어OTF_ac"/>
              </a:rPr>
              <a:t>target 이전 주문만
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221991"/>
            <a:ext cx="32004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16B60"/>
                </a:solidFill>
                <a:latin typeface="나눔스퀘어OTF_ac ExtraBold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874519"/>
            <a:ext cx="2057400" cy="960120"/>
          </a:xfrm>
          <a:prstGeom prst="rect">
            <a:avLst/>
          </a:prstGeom>
          <a:solidFill>
            <a:srgbClr val="EDF2FA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200" b="1">
                <a:solidFill>
                  <a:srgbClr val="182321"/>
                </a:solidFill>
                <a:latin typeface="나눔스퀘어OTF_ac ExtraBold"/>
              </a:rPr>
              <a:t>2. Feature 생성</a:t>
            </a:r>
          </a:p>
          <a:p>
            <a:pPr>
              <a:spcBef>
                <a:spcPts val="600"/>
              </a:spcBef>
            </a:pPr>
            <a:r>
              <a:rPr sz="900" b="0">
                <a:solidFill>
                  <a:srgbClr val="5C6965"/>
                </a:solidFill>
                <a:latin typeface="나눔스퀘어OTF_ac"/>
              </a:rPr>
              <a:t>평균 gap, 최근 gap,
주문 빈도 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221991"/>
            <a:ext cx="32004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16B60"/>
                </a:solidFill>
                <a:latin typeface="나눔스퀘어OTF_ac ExtraBold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0" y="1874519"/>
            <a:ext cx="2057400" cy="960120"/>
          </a:xfrm>
          <a:prstGeom prst="rect">
            <a:avLst/>
          </a:prstGeom>
          <a:solidFill>
            <a:srgbClr val="FCF2E7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200" b="1">
                <a:solidFill>
                  <a:srgbClr val="182321"/>
                </a:solidFill>
                <a:latin typeface="나눔스퀘어OTF_ac ExtraBold"/>
              </a:rPr>
              <a:t>3. 모델 예측</a:t>
            </a:r>
          </a:p>
          <a:p>
            <a:pPr>
              <a:spcBef>
                <a:spcPts val="600"/>
              </a:spcBef>
            </a:pPr>
            <a:r>
              <a:rPr sz="900" b="0">
                <a:solidFill>
                  <a:srgbClr val="5C6965"/>
                </a:solidFill>
                <a:latin typeface="나눔스퀘어OTF_ac"/>
              </a:rPr>
              <a:t>delay risk
score 출력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221991"/>
            <a:ext cx="32004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16B60"/>
                </a:solidFill>
                <a:latin typeface="나눔스퀘어OTF_ac ExtraBold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874519"/>
            <a:ext cx="2057400" cy="960120"/>
          </a:xfrm>
          <a:prstGeom prst="rect">
            <a:avLst/>
          </a:prstGeom>
          <a:solidFill>
            <a:srgbClr val="EBF6F3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200" b="1">
                <a:solidFill>
                  <a:srgbClr val="182321"/>
                </a:solidFill>
                <a:latin typeface="나눔스퀘어OTF_ac ExtraBold"/>
              </a:rPr>
              <a:t>4. Label 확인</a:t>
            </a:r>
          </a:p>
          <a:p>
            <a:pPr>
              <a:spcBef>
                <a:spcPts val="600"/>
              </a:spcBef>
            </a:pPr>
            <a:r>
              <a:rPr sz="900" b="0">
                <a:solidFill>
                  <a:srgbClr val="5C6965"/>
                </a:solidFill>
                <a:latin typeface="나눔스퀘어OTF_ac"/>
              </a:rPr>
              <a:t>target_gap &gt; 15
여부 확인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04672" y="3886200"/>
          <a:ext cx="99669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/>
                <a:gridCol w="4983480"/>
              </a:tblGrid>
              <a:tr h="283464"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항목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설정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</a:tr>
              <a:tr h="283464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샘플 단위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1 user = 1 sample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분할 방식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train/valid/test = 70/15/15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샘플 수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29,749 / 6,375 / 6,375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label 비율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positive ratio 약 18.65% 유지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68680" y="5596128"/>
            <a:ext cx="99669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6B60"/>
                </a:solidFill>
                <a:latin typeface="나눔스퀘어OTF_ac ExtraBold"/>
              </a:rPr>
              <a:t>모델 내부 구조가 아니라, target 이전 이력으로 feature를 만들고 target_gap으로 정답 여부를 확인하는 샘플 생성 방식이다.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파생 변수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09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0352" y="1664208"/>
          <a:ext cx="111556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02920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카테고리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대표 변수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도출 방식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해석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활동성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total_orders_before_target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target 이전 주문 수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고빈도/활동량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평균 주기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avg_gap_before_target, std_gap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이전 gap의 평균/표준편차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평소 구매 주기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최근 패턴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recent_3_avg_gap, recent_5_avg_gap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최근 N회 gap 평균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최근 구매 둔화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직전 신호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last_gap_before_target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target 직전 gap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가장 가까운 위험 신호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추세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gap_trend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최근 gap 변화 방향 요약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간격이 길어지는 흐름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생활 패턴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weekend_order_ratio, dow_variability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주말 비율/요일 다양성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구매 습관 안정성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5504688"/>
            <a:ext cx="9692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6B60"/>
                </a:solidFill>
                <a:latin typeface="나눔스퀘어OTF_ac ExtraBold"/>
              </a:rPr>
              <a:t>핵심은 ‘한 고객의 주문 이력을 숫자로 요약한 표 형태 입력값’과 ‘최근 주문의 순서 입력값’을 모두 만든 것이다.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SEQUENCE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주문 Sequence 입력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2011680" cy="914400"/>
          </a:xfrm>
          <a:prstGeom prst="rect">
            <a:avLst/>
          </a:prstGeom>
          <a:solidFill>
            <a:srgbClr val="EBF6F3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sequence length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C6965"/>
                </a:solidFill>
                <a:latin typeface="나눔스퀘어OTF_ac"/>
              </a:rPr>
              <a:t>최근 20개 주문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783080"/>
            <a:ext cx="2103120" cy="914400"/>
          </a:xfrm>
          <a:prstGeom prst="rect">
            <a:avLst/>
          </a:prstGeom>
          <a:solidFill>
            <a:srgbClr val="EDF2FA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per-order features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5C6965"/>
                </a:solidFill>
                <a:latin typeface="나눔스퀘어OTF_ac"/>
              </a:rPr>
              <a:t>gap, gap_delta,
최근 3회 gap 평균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783080"/>
            <a:ext cx="2377440" cy="914400"/>
          </a:xfrm>
          <a:prstGeom prst="rect">
            <a:avLst/>
          </a:prstGeom>
          <a:solidFill>
            <a:srgbClr val="FCF2E7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time encoding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5C6965"/>
                </a:solidFill>
                <a:latin typeface="나눔스퀘어OTF_ac"/>
              </a:rPr>
              <a:t>요일/시간은 sin, cos로
순환 구조 반영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1783080"/>
            <a:ext cx="2194560" cy="914400"/>
          </a:xfrm>
          <a:prstGeom prst="rect">
            <a:avLst/>
          </a:prstGeom>
          <a:solidFill>
            <a:srgbClr val="EBF6F3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relative position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5C6965"/>
                </a:solidFill>
                <a:latin typeface="나눔스퀘어OTF_ac"/>
              </a:rPr>
              <a:t>target 이전 주문 내
상대적 위치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01568"/>
            <a:ext cx="1188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16B60"/>
                </a:solidFill>
                <a:latin typeface="나눔스퀘어OTF_ac ExtraBold"/>
              </a:rPr>
              <a:t>예시 흐름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75887"/>
            <a:ext cx="45720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82321"/>
                </a:solidFill>
                <a:latin typeface="나눔스퀘어OTF_ac ExtraBold"/>
              </a:rPr>
              <a:t>3일 → 5일 → 8일 → 14일 →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800600"/>
            <a:ext cx="98755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965"/>
                </a:solidFill>
                <a:latin typeface="나눔스퀘어OTF_ac"/>
              </a:rPr>
              <a:t>요약 변수는 평균을 보여주지만, sequence 입력은 주문 간격이 어떤 순서로 변했는지를 직접 보여준다.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비교 모델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82496"/>
          <a:ext cx="10972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12648"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비교 관점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대표 모델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확인하려는 점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</a:tr>
              <a:tr h="612648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기준선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DummyClassifier, LogisticRegression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최소 기준과 선형 기준선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정형 feature 기반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MLP, CatBoost, LightGBM, XGBoost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고객 요약 정보만으로 충분한가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Sequence-only 딥러닝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LSTM/GRU 계열, TCN, Transformer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최근 주문 흐름만으로 예측 가능한가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Hybrid 딥러닝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HybridGRU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요약 정보와 주문 순서를 함께 쓰면 개선되는가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6384" y="5230368"/>
            <a:ext cx="98755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6B60"/>
                </a:solidFill>
                <a:latin typeface="나눔스퀘어OTF_ac ExtraBold"/>
              </a:rPr>
              <a:t>최종 후보 HybridGRU는 최근 주문 흐름을 읽는 GRU와 고객 요약 feature를 읽는 MLP를 결합한 모델이다.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HYBRID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하이브리드 모델의 핵심 아이디어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2971800" cy="1325880"/>
          </a:xfrm>
          <a:prstGeom prst="rect">
            <a:avLst/>
          </a:prstGeom>
          <a:solidFill>
            <a:srgbClr val="EBF6F3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Tabular 정보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5C6965"/>
                </a:solidFill>
                <a:latin typeface="나눔스퀘어OTF_ac"/>
              </a:rPr>
              <a:t>평균 주문 간격, 활동 기간,
주문 빈도처럼 고객의 장기 성향을 읽는다.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920240"/>
            <a:ext cx="2971800" cy="1325880"/>
          </a:xfrm>
          <a:prstGeom prst="rect">
            <a:avLst/>
          </a:prstGeom>
          <a:solidFill>
            <a:srgbClr val="EDF2FA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Sequence 정보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5C6965"/>
                </a:solidFill>
                <a:latin typeface="나눔스퀘어OTF_ac"/>
              </a:rPr>
              <a:t>최근 주문 간격이 어떤 순서로
늘거나 줄었는지 읽는다.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920240"/>
            <a:ext cx="2743200" cy="1325880"/>
          </a:xfrm>
          <a:prstGeom prst="rect">
            <a:avLst/>
          </a:prstGeom>
          <a:solidFill>
            <a:srgbClr val="FCF2E7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Fusion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5C6965"/>
                </a:solidFill>
                <a:latin typeface="나눔스퀘어OTF_ac"/>
              </a:rPr>
              <a:t>두 결과를 합쳐 다음 주문 지연 위험
score를 계산한다.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98755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6B60"/>
                </a:solidFill>
                <a:latin typeface="나눔스퀘어OTF_ac ExtraBold"/>
              </a:rPr>
              <a:t>단순히 변수를 많이 넣은 것이 아니라, tabular 정보는 MLP가 처리하고 sequence 정보는 GRU가 처리한 뒤 두 결과를 결합한 구조다.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HybridGRU 모델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828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16B60"/>
                </a:solidFill>
                <a:latin typeface="나눔스퀘어OTF_ac ExtraBold"/>
              </a:rPr>
              <a:t>Sequence 정보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1353312" cy="658368"/>
          </a:xfrm>
          <a:prstGeom prst="rect">
            <a:avLst/>
          </a:prstGeom>
          <a:solidFill>
            <a:srgbClr val="EBF6F3"/>
          </a:solidFill>
          <a:ln w="12700">
            <a:solidFill>
              <a:srgbClr val="11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900" b="1">
                <a:solidFill>
                  <a:srgbClr val="182321"/>
                </a:solidFill>
                <a:latin typeface="나눔스퀘어OTF_ac ExtraBold"/>
              </a:rPr>
              <a:t>Sequence input</a:t>
            </a:r>
          </a:p>
          <a:p>
            <a:pPr algn="ctr">
              <a:spcBef>
                <a:spcPts val="200"/>
              </a:spcBef>
            </a:pPr>
            <a:r>
              <a:rPr sz="700" b="0">
                <a:solidFill>
                  <a:srgbClr val="5C6965"/>
                </a:solidFill>
                <a:latin typeface="나눔스퀘어OTF_ac"/>
              </a:rPr>
              <a:t>20 orders ×
8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7128" y="2276856"/>
            <a:ext cx="32004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16B60"/>
                </a:solidFill>
                <a:latin typeface="나눔스퀘어OTF_ac ExtraBold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2057400"/>
            <a:ext cx="1353312" cy="658368"/>
          </a:xfrm>
          <a:prstGeom prst="rect">
            <a:avLst/>
          </a:prstGeom>
          <a:solidFill>
            <a:srgbClr val="EDF2FA"/>
          </a:solidFill>
          <a:ln w="12700">
            <a:solidFill>
              <a:srgbClr val="11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900" b="1">
                <a:solidFill>
                  <a:srgbClr val="182321"/>
                </a:solidFill>
                <a:latin typeface="나눔스퀘어OTF_ac ExtraBold"/>
              </a:rPr>
              <a:t>GRU encoder</a:t>
            </a:r>
          </a:p>
          <a:p>
            <a:pPr algn="ctr">
              <a:spcBef>
                <a:spcPts val="200"/>
              </a:spcBef>
            </a:pPr>
            <a:r>
              <a:rPr sz="700" b="0">
                <a:solidFill>
                  <a:srgbClr val="5C6965"/>
                </a:solidFill>
                <a:latin typeface="나눔스퀘어OTF_ac"/>
              </a:rPr>
              <a:t>2 layers
hidden=128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2276856"/>
            <a:ext cx="32004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16B60"/>
                </a:solidFill>
                <a:latin typeface="나눔스퀘어OTF_ac ExtraBold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057400"/>
            <a:ext cx="1353312" cy="658368"/>
          </a:xfrm>
          <a:prstGeom prst="rect">
            <a:avLst/>
          </a:prstGeom>
          <a:solidFill>
            <a:srgbClr val="FCF2E7"/>
          </a:solidFill>
          <a:ln w="12700">
            <a:solidFill>
              <a:srgbClr val="11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900" b="1">
                <a:solidFill>
                  <a:srgbClr val="182321"/>
                </a:solidFill>
                <a:latin typeface="나눔스퀘어OTF_ac ExtraBold"/>
              </a:rPr>
              <a:t>Projection</a:t>
            </a:r>
          </a:p>
          <a:p>
            <a:pPr algn="ctr">
              <a:spcBef>
                <a:spcPts val="200"/>
              </a:spcBef>
            </a:pPr>
            <a:r>
              <a:rPr sz="700" b="0">
                <a:solidFill>
                  <a:srgbClr val="5C6965"/>
                </a:solidFill>
                <a:latin typeface="나눔스퀘어OTF_ac"/>
              </a:rPr>
              <a:t>128 →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41848" y="2276856"/>
            <a:ext cx="32004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16B60"/>
                </a:solidFill>
                <a:latin typeface="나눔스퀘어OTF_ac ExtraBold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057400"/>
            <a:ext cx="1353312" cy="658368"/>
          </a:xfrm>
          <a:prstGeom prst="rect">
            <a:avLst/>
          </a:prstGeom>
          <a:solidFill>
            <a:srgbClr val="EBF6F3"/>
          </a:solidFill>
          <a:ln w="12700">
            <a:solidFill>
              <a:srgbClr val="11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900" b="1">
                <a:solidFill>
                  <a:srgbClr val="182321"/>
                </a:solidFill>
                <a:latin typeface="나눔스퀘어OTF_ac ExtraBold"/>
              </a:rPr>
              <a:t>Seq embedding</a:t>
            </a:r>
          </a:p>
          <a:p>
            <a:pPr algn="ctr">
              <a:spcBef>
                <a:spcPts val="200"/>
              </a:spcBef>
            </a:pPr>
            <a:r>
              <a:rPr sz="700" b="0">
                <a:solidFill>
                  <a:srgbClr val="5C6965"/>
                </a:solidFill>
                <a:latin typeface="나눔스퀘어OTF_ac"/>
              </a:rPr>
              <a:t>64-dim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20439"/>
            <a:ext cx="1828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A5484"/>
                </a:solidFill>
                <a:latin typeface="나눔스퀘어OTF_ac ExtraBold"/>
              </a:rPr>
              <a:t>Tabular 정보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77639"/>
            <a:ext cx="1353312" cy="658368"/>
          </a:xfrm>
          <a:prstGeom prst="rect">
            <a:avLst/>
          </a:prstGeom>
          <a:solidFill>
            <a:srgbClr val="EBF6F3"/>
          </a:solidFill>
          <a:ln w="12700">
            <a:solidFill>
              <a:srgbClr val="11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900" b="1">
                <a:solidFill>
                  <a:srgbClr val="182321"/>
                </a:solidFill>
                <a:latin typeface="나눔스퀘어OTF_ac ExtraBold"/>
              </a:rPr>
              <a:t>Customer summary</a:t>
            </a:r>
          </a:p>
          <a:p>
            <a:pPr algn="ctr">
              <a:spcBef>
                <a:spcPts val="200"/>
              </a:spcBef>
            </a:pPr>
            <a:r>
              <a:rPr sz="700" b="0">
                <a:solidFill>
                  <a:srgbClr val="5C6965"/>
                </a:solidFill>
                <a:latin typeface="나눔스퀘어OTF_ac"/>
              </a:rPr>
              <a:t>13 aggregate
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7128" y="4197096"/>
            <a:ext cx="32004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16B60"/>
                </a:solidFill>
                <a:latin typeface="나눔스퀘어OTF_ac ExtraBold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3977639"/>
            <a:ext cx="1353312" cy="658368"/>
          </a:xfrm>
          <a:prstGeom prst="rect">
            <a:avLst/>
          </a:prstGeom>
          <a:solidFill>
            <a:srgbClr val="EDF2FA"/>
          </a:solidFill>
          <a:ln w="12700">
            <a:solidFill>
              <a:srgbClr val="11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900" b="1">
                <a:solidFill>
                  <a:srgbClr val="182321"/>
                </a:solidFill>
                <a:latin typeface="나눔스퀘어OTF_ac ExtraBold"/>
              </a:rPr>
              <a:t>MLP encoder</a:t>
            </a:r>
          </a:p>
          <a:p>
            <a:pPr algn="ctr">
              <a:spcBef>
                <a:spcPts val="200"/>
              </a:spcBef>
            </a:pPr>
            <a:r>
              <a:rPr sz="700" b="0">
                <a:solidFill>
                  <a:srgbClr val="5C6965"/>
                </a:solidFill>
                <a:latin typeface="나눔스퀘어OTF_ac"/>
              </a:rPr>
              <a:t>13 → 128 → 64
BN + ReLU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4487" y="4197096"/>
            <a:ext cx="32004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16B60"/>
                </a:solidFill>
                <a:latin typeface="나눔스퀘어OTF_ac ExtraBold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977639"/>
            <a:ext cx="1353312" cy="658368"/>
          </a:xfrm>
          <a:prstGeom prst="rect">
            <a:avLst/>
          </a:prstGeom>
          <a:solidFill>
            <a:srgbClr val="EBF6F3"/>
          </a:solidFill>
          <a:ln w="12700">
            <a:solidFill>
              <a:srgbClr val="11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900" b="1">
                <a:solidFill>
                  <a:srgbClr val="182321"/>
                </a:solidFill>
                <a:latin typeface="나눔스퀘어OTF_ac ExtraBold"/>
              </a:rPr>
              <a:t>Tab embedding</a:t>
            </a:r>
          </a:p>
          <a:p>
            <a:pPr algn="ctr">
              <a:spcBef>
                <a:spcPts val="200"/>
              </a:spcBef>
            </a:pPr>
            <a:r>
              <a:rPr sz="700" b="0">
                <a:solidFill>
                  <a:srgbClr val="5C6965"/>
                </a:solidFill>
                <a:latin typeface="나눔스퀘어OTF_ac"/>
              </a:rPr>
              <a:t>64-dim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697480"/>
            <a:ext cx="32004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16B60"/>
                </a:solidFill>
                <a:latin typeface="나눔스퀘어OTF_ac ExtraBold"/>
              </a:rPr>
              <a:t>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3931920"/>
            <a:ext cx="32004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16B60"/>
                </a:solidFill>
                <a:latin typeface="나눔스퀘어OTF_ac ExtraBold"/>
              </a:rPr>
              <a:t>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35240" y="3063240"/>
            <a:ext cx="1325880" cy="713232"/>
          </a:xfrm>
          <a:prstGeom prst="rect">
            <a:avLst/>
          </a:prstGeom>
          <a:solidFill>
            <a:srgbClr val="FCF2E7"/>
          </a:solidFill>
          <a:ln w="12700">
            <a:solidFill>
              <a:srgbClr val="11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900" b="1">
                <a:solidFill>
                  <a:srgbClr val="182321"/>
                </a:solidFill>
                <a:latin typeface="나눔스퀘어OTF_ac ExtraBold"/>
              </a:rPr>
              <a:t>Concatenate</a:t>
            </a:r>
          </a:p>
          <a:p>
            <a:pPr algn="ctr">
              <a:spcBef>
                <a:spcPts val="200"/>
              </a:spcBef>
            </a:pPr>
            <a:r>
              <a:rPr sz="700" b="0">
                <a:solidFill>
                  <a:srgbClr val="5C6965"/>
                </a:solidFill>
                <a:latin typeface="나눔스퀘어OTF_ac"/>
              </a:rPr>
              <a:t>64 + 64 =
128-dim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273552"/>
            <a:ext cx="32004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16B60"/>
                </a:solidFill>
                <a:latin typeface="나눔스퀘어OTF_ac ExtraBold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3063240"/>
            <a:ext cx="1234440" cy="713232"/>
          </a:xfrm>
          <a:prstGeom prst="rect">
            <a:avLst/>
          </a:prstGeom>
          <a:solidFill>
            <a:srgbClr val="EDF2FA"/>
          </a:solidFill>
          <a:ln w="12700">
            <a:solidFill>
              <a:srgbClr val="11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900" b="1">
                <a:solidFill>
                  <a:srgbClr val="182321"/>
                </a:solidFill>
                <a:latin typeface="나눔스퀘어OTF_ac ExtraBold"/>
              </a:rPr>
              <a:t>Dense head</a:t>
            </a:r>
          </a:p>
          <a:p>
            <a:pPr algn="ctr">
              <a:spcBef>
                <a:spcPts val="200"/>
              </a:spcBef>
            </a:pPr>
            <a:r>
              <a:rPr sz="700" b="0">
                <a:solidFill>
                  <a:srgbClr val="5C6965"/>
                </a:solidFill>
                <a:latin typeface="나눔스퀘어OTF_ac"/>
              </a:rPr>
              <a:t>128 → 64 →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25328" y="3273552"/>
            <a:ext cx="32004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16B60"/>
                </a:solidFill>
                <a:latin typeface="나눔스퀘어OTF_ac ExtraBold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81360" y="3063240"/>
            <a:ext cx="1005840" cy="713232"/>
          </a:xfrm>
          <a:prstGeom prst="rect">
            <a:avLst/>
          </a:prstGeom>
          <a:solidFill>
            <a:srgbClr val="EBF6F3"/>
          </a:solidFill>
          <a:ln w="12700">
            <a:solidFill>
              <a:srgbClr val="11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900" b="1">
                <a:solidFill>
                  <a:srgbClr val="182321"/>
                </a:solidFill>
                <a:latin typeface="나눔스퀘어OTF_ac ExtraBold"/>
              </a:rPr>
              <a:t>Sigmoid</a:t>
            </a:r>
          </a:p>
          <a:p>
            <a:pPr algn="ctr">
              <a:spcBef>
                <a:spcPts val="200"/>
              </a:spcBef>
            </a:pPr>
            <a:r>
              <a:rPr sz="700" b="0">
                <a:solidFill>
                  <a:srgbClr val="5C6965"/>
                </a:solidFill>
                <a:latin typeface="나눔스퀘어OTF_ac"/>
              </a:rPr>
              <a:t>delay_risk
score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5532120"/>
            <a:ext cx="10378440" cy="566928"/>
          </a:xfrm>
          <a:prstGeom prst="rect">
            <a:avLst/>
          </a:prstGeom>
          <a:solidFill>
            <a:srgbClr val="EBF6F3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000" b="1">
                <a:solidFill>
                  <a:srgbClr val="182321"/>
                </a:solidFill>
                <a:latin typeface="나눔스퀘어OTF_ac ExtraBold"/>
              </a:rPr>
              <a:t>핵심</a:t>
            </a:r>
          </a:p>
          <a:p>
            <a:pPr>
              <a:spcBef>
                <a:spcPts val="600"/>
              </a:spcBef>
            </a:pPr>
            <a:r>
              <a:rPr sz="800" b="0">
                <a:solidFill>
                  <a:srgbClr val="5C6965"/>
                </a:solidFill>
                <a:latin typeface="나눔스퀘어OTF_ac"/>
              </a:rPr>
              <a:t>Sequence 정보는 GRU가 읽고, tabular 정보는 MLP가 읽은 뒤
두 결과를 결합해 최종 위험 score를 계산한다.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LAYER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레이어와 하이퍼파라미터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64208"/>
          <a:ext cx="107899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502920"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구성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설정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역할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Sequence input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20 orders × 8 features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최근 주문 흐름 입력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GRU encoder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hidden_dim=128, num_layers=2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순서 패턴 요약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Tabular encoder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13 features → 128 → 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고객 요약 변수 압축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Fusion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seq embedding 64 + tabular embedding 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두 정보 결합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Classifier head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128 → 64 → 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delay_risk logit 출력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Activation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sigmoid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지연 위험 score 변환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학습 설정 및 Threshold 조정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64208"/>
          <a:ext cx="5486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84048"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항목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설정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</a:tr>
              <a:tr h="384048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문제 유형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Binary classification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Loss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BCEWithLogitsLoss(pos_weight=4.3621)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Optimizer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AdamW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Learning rate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0.001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Weight decay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0.0001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Batch size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512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Max epochs / early stopping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90 / patience 10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Threshold tuning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validation F1-score 최대화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Final decision threshold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HybridGRU = 0.61 (validation F1 기준)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629400" y="1874519"/>
            <a:ext cx="4206240" cy="1234440"/>
          </a:xfrm>
          <a:prstGeom prst="rect">
            <a:avLst/>
          </a:prstGeom>
          <a:solidFill>
            <a:srgbClr val="EBF6F3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왜 pos_weight?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5C6965"/>
                </a:solidFill>
                <a:latin typeface="나눔스퀘어OTF_ac"/>
              </a:rPr>
              <a:t>positive class가 약 18.65%로 적기 때문에, 지연 위험 고객을 학습에서 더 강하게 반영하기 위해 사용했다.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3429000"/>
            <a:ext cx="4206240" cy="1234440"/>
          </a:xfrm>
          <a:prstGeom prst="rect">
            <a:avLst/>
          </a:prstGeom>
          <a:solidFill>
            <a:srgbClr val="EDF2FA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왜 threshold tuning?</a:t>
            </a:r>
          </a:p>
          <a:p>
            <a:pPr>
              <a:spcBef>
                <a:spcPts val="600"/>
              </a:spcBef>
            </a:pPr>
            <a:r>
              <a:rPr sz="900" b="0">
                <a:solidFill>
                  <a:srgbClr val="5C6965"/>
                </a:solidFill>
                <a:latin typeface="나눔스퀘어OTF_ac"/>
              </a:rPr>
              <a:t>0.5 고정 threshold보다 validation set에서 F1이 가장 높은 기준을 찾았다. 최종 HybridGRU threshold는 0.61이다.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평가 지표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64208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22514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지표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의미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해석 관점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</a:tr>
              <a:tr h="522514"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Accuracy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전체 정답 비율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불균형 데이터에서는 과대평가 가능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Recall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위험 고객 중 잡아낸 비율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놓친 위험 고객(FN)을 줄이는 관점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Precision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위험 예측 중 실제 위험 비율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마케팅 비용/오탐 관리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F1-score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Precision과 Recall의 조화 평균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위험 탐지 균형 기준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ROC-AUC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threshold 전반의 구분 능력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순위화 성능 확인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Average Precision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PR curve 요약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positive class가 적을 때 유용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04672" y="5669280"/>
            <a:ext cx="10058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16B60"/>
                </a:solidFill>
                <a:latin typeface="나눔스퀘어OTF_ac ExtraBold"/>
              </a:rPr>
              <a:t>지연 고객 비율이 18.65%로 적기 때문에 accuracy만 보지 않고 Recall, Precision, F1-score를 함께 평가했다.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RESULT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정형 Feature 모델 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17</a:t>
            </a:r>
          </a:p>
        </p:txBody>
      </p:sp>
      <p:pic>
        <p:nvPicPr>
          <p:cNvPr id="8" name="Picture 7" descr="tabular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19072"/>
            <a:ext cx="5852160" cy="35112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1874519"/>
            <a:ext cx="4389120" cy="22860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marL="228600" indent="-114300">
              <a:spcAft>
                <a:spcPts val="400"/>
              </a:spcAft>
              <a:defRPr sz="1100">
                <a:solidFill>
                  <a:srgbClr val="182321"/>
                </a:solidFill>
                <a:latin typeface="나눔스퀘어OTF_ac"/>
              </a:defRPr>
            </a:pPr>
            <a:r>
              <a:t>CatBoost F1-score: 0.5105</a:t>
            </a:r>
          </a:p>
          <a:p>
            <a:pPr marL="228600" indent="-114300">
              <a:spcAft>
                <a:spcPts val="400"/>
              </a:spcAft>
              <a:defRPr sz="1100">
                <a:solidFill>
                  <a:srgbClr val="182321"/>
                </a:solidFill>
                <a:latin typeface="나눔스퀘어OTF_ac"/>
              </a:defRPr>
            </a:pPr>
            <a:r>
              <a:t>LightGBM Recall: 0.7157로 가장 높음</a:t>
            </a:r>
          </a:p>
          <a:p>
            <a:pPr marL="228600" indent="-114300">
              <a:spcAft>
                <a:spcPts val="400"/>
              </a:spcAft>
              <a:defRPr sz="1100">
                <a:solidFill>
                  <a:srgbClr val="182321"/>
                </a:solidFill>
                <a:latin typeface="나눔스퀘어OTF_ac"/>
              </a:defRPr>
            </a:pPr>
            <a:r>
              <a:t>MLP F1-score: 0.5064로 tree boosting과 근접</a:t>
            </a:r>
          </a:p>
          <a:p>
            <a:pPr marL="228600" indent="-114300">
              <a:spcAft>
                <a:spcPts val="400"/>
              </a:spcAft>
              <a:defRPr sz="1100">
                <a:solidFill>
                  <a:srgbClr val="182321"/>
                </a:solidFill>
                <a:latin typeface="나눔스퀘어OTF_ac"/>
              </a:defRPr>
            </a:pPr>
            <a:r>
              <a:t>LogisticRegression은 선형 baseline으로 성능 차이가 확인됨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RESULT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Sequence-only 딥러닝 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18</a:t>
            </a:r>
          </a:p>
        </p:txBody>
      </p:sp>
      <p:pic>
        <p:nvPicPr>
          <p:cNvPr id="8" name="Picture 7" descr="deep_sequence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19072"/>
            <a:ext cx="5852160" cy="35112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1828800"/>
            <a:ext cx="4389120" cy="2606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marL="228600" indent="-114300">
              <a:spcAft>
                <a:spcPts val="400"/>
              </a:spcAft>
              <a:defRPr sz="1100">
                <a:solidFill>
                  <a:srgbClr val="182321"/>
                </a:solidFill>
                <a:latin typeface="나눔스퀘어OTF_ac"/>
              </a:defRPr>
            </a:pPr>
            <a:r>
              <a:t>LSTM이 sequence-only 모델 중 F1-score 0.4569로 가장 균형적</a:t>
            </a:r>
          </a:p>
          <a:p>
            <a:pPr marL="228600" indent="-114300">
              <a:spcAft>
                <a:spcPts val="400"/>
              </a:spcAft>
              <a:defRPr sz="1100">
                <a:solidFill>
                  <a:srgbClr val="182321"/>
                </a:solidFill>
                <a:latin typeface="나눔스퀘어OTF_ac"/>
              </a:defRPr>
            </a:pPr>
            <a:r>
              <a:t>TCN은 Recall이 상대적으로 높았지만 precision은 낮음</a:t>
            </a:r>
          </a:p>
          <a:p>
            <a:pPr marL="228600" indent="-114300">
              <a:spcAft>
                <a:spcPts val="400"/>
              </a:spcAft>
              <a:defRPr sz="1100">
                <a:solidFill>
                  <a:srgbClr val="182321"/>
                </a:solidFill>
                <a:latin typeface="나눔스퀘어OTF_ac"/>
              </a:defRPr>
            </a:pPr>
            <a:r>
              <a:t>sequence만 사용할 경우 고객의 장기 구매 성향 정보가 약해질 수 있음</a:t>
            </a:r>
          </a:p>
          <a:p>
            <a:pPr marL="228600" indent="-114300">
              <a:spcAft>
                <a:spcPts val="400"/>
              </a:spcAft>
              <a:defRPr sz="1100">
                <a:solidFill>
                  <a:srgbClr val="182321"/>
                </a:solidFill>
                <a:latin typeface="나눔스퀘어OTF_ac"/>
              </a:defRPr>
            </a:pPr>
            <a:r>
              <a:t>따라서 sequence와 요약 변수를 결합한 하이브리드 구조로 확장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RESULT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하이브리드 딥러닝 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19</a:t>
            </a:r>
          </a:p>
        </p:txBody>
      </p:sp>
      <p:pic>
        <p:nvPicPr>
          <p:cNvPr id="8" name="Picture 7" descr="hybrid_deep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5943600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95160" y="1874519"/>
            <a:ext cx="4251960" cy="24231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marL="228600" indent="-114300">
              <a:spcAft>
                <a:spcPts val="400"/>
              </a:spcAft>
              <a:defRPr sz="1100">
                <a:solidFill>
                  <a:srgbClr val="182321"/>
                </a:solidFill>
                <a:latin typeface="나눔스퀘어OTF_ac"/>
              </a:defRPr>
            </a:pPr>
            <a:r>
              <a:t>HybridGRU F1-score: 0.5176</a:t>
            </a:r>
          </a:p>
          <a:p>
            <a:pPr marL="228600" indent="-114300">
              <a:spcAft>
                <a:spcPts val="400"/>
              </a:spcAft>
              <a:defRPr sz="1100">
                <a:solidFill>
                  <a:srgbClr val="182321"/>
                </a:solidFill>
                <a:latin typeface="나눔스퀘어OTF_ac"/>
              </a:defRPr>
            </a:pPr>
            <a:r>
              <a:t>sequence-only 최고 LSTM 대비 F1 +0.0607</a:t>
            </a:r>
          </a:p>
          <a:p>
            <a:pPr marL="228600" indent="-114300">
              <a:spcAft>
                <a:spcPts val="400"/>
              </a:spcAft>
              <a:defRPr sz="1100">
                <a:solidFill>
                  <a:srgbClr val="182321"/>
                </a:solidFill>
                <a:latin typeface="나눔스퀘어OTF_ac"/>
              </a:defRPr>
            </a:pPr>
            <a:r>
              <a:t>HybridBiGRU는 ROC-AUC가 가장 높았지만 F1은 낮음</a:t>
            </a:r>
          </a:p>
          <a:p>
            <a:pPr marL="228600" indent="-114300">
              <a:spcAft>
                <a:spcPts val="400"/>
              </a:spcAft>
              <a:defRPr sz="1100">
                <a:solidFill>
                  <a:srgbClr val="182321"/>
                </a:solidFill>
                <a:latin typeface="나눔스퀘어OTF_ac"/>
              </a:defRPr>
            </a:pPr>
            <a:r>
              <a:t>최근 주문 흐름과 고객 요약 feature를 함께 쓰는 구조의 필요성을 확인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FINAL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전체 모델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20</a:t>
            </a:r>
          </a:p>
        </p:txBody>
      </p:sp>
      <p:pic>
        <p:nvPicPr>
          <p:cNvPr id="8" name="Picture 7" descr="final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62298"/>
            <a:ext cx="6172200" cy="39277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86600" y="1664208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16B60"/>
                </a:solidFill>
                <a:latin typeface="나눔스퀘어OTF_ac ExtraBold"/>
              </a:rPr>
              <a:t>핵심 수치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086600" y="1920240"/>
          <a:ext cx="4343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850"/>
                <a:gridCol w="1085850"/>
                <a:gridCol w="1085850"/>
                <a:gridCol w="1085850"/>
              </a:tblGrid>
              <a:tr h="320040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모델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F1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Recall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ROC-AUC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</a:tr>
              <a:tr h="320040"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HybridGRU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0.5176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0.6972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0.8220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CatBoost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0.5105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0.6947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0.8226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LightGBM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0.5097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0.7157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0.8181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MLP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0.5064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0.6863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00" b="0">
                          <a:solidFill>
                            <a:srgbClr val="5C6965"/>
                          </a:solidFill>
                          <a:latin typeface="나눔스퀘어OTF_ac"/>
                        </a:rPr>
                        <a:t>0.8179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269480" y="3822191"/>
            <a:ext cx="16916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16B60"/>
                </a:solidFill>
                <a:latin typeface="나눔스퀘어OTF_ac ExtraBold"/>
              </a:rPr>
              <a:t>0.5176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4169663"/>
            <a:ext cx="16916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C6965"/>
                </a:solidFill>
                <a:latin typeface="나눔스퀘어OTF_ac"/>
              </a:rPr>
              <a:t>HybridGRU F1-score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3822191"/>
            <a:ext cx="16916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2A5484"/>
                </a:solidFill>
                <a:latin typeface="나눔스퀘어OTF_ac ExtraBold"/>
              </a:rPr>
              <a:t>0.7157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4169663"/>
            <a:ext cx="16916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C6965"/>
                </a:solidFill>
                <a:latin typeface="나눔스퀘어OTF_ac"/>
              </a:rPr>
              <a:t>LightGBM 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4828032"/>
            <a:ext cx="3886200" cy="804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6B60"/>
                </a:solidFill>
                <a:latin typeface="나눔스퀘어OTF_ac ExtraBold"/>
              </a:rPr>
              <a:t>해석: CatBoost와의 차이는 크지 않다.
다만 최근 주문 흐름과 고객 요약 feature를 함께 보는
문제 구조에 맞는 딥러닝 최종 후보로 해석했다.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ROC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ROC Curve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21</a:t>
            </a:r>
          </a:p>
        </p:txBody>
      </p:sp>
      <p:pic>
        <p:nvPicPr>
          <p:cNvPr id="8" name="Picture 7" descr="final_selected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60" y="1600200"/>
            <a:ext cx="5913119" cy="4434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92440" y="2103120"/>
            <a:ext cx="2926080" cy="1097280"/>
          </a:xfrm>
          <a:prstGeom prst="rect">
            <a:avLst/>
          </a:prstGeom>
          <a:solidFill>
            <a:srgbClr val="EBF6F3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해석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5C6965"/>
                </a:solidFill>
                <a:latin typeface="나눔스퀘어OTF_ac"/>
              </a:rPr>
              <a:t>ROC-AUC는 threshold 전반에서 양성과 음성을 구분하는 순위화 능력을 보여준다.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3493008"/>
            <a:ext cx="2926080" cy="1097280"/>
          </a:xfrm>
          <a:prstGeom prst="rect">
            <a:avLst/>
          </a:prstGeom>
          <a:solidFill>
            <a:srgbClr val="EDF2FA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주의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5C6965"/>
                </a:solidFill>
                <a:latin typeface="나눔스퀘어OTF_ac"/>
              </a:rPr>
              <a:t>불균형 데이터에서는 ROC만으로 충분하지 않아 PR curve도 함께 확인했다.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PR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PR Curve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22</a:t>
            </a:r>
          </a:p>
        </p:txBody>
      </p:sp>
      <p:pic>
        <p:nvPicPr>
          <p:cNvPr id="8" name="Picture 7" descr="final_selected_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60" y="1600200"/>
            <a:ext cx="5913119" cy="4434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92440" y="2103120"/>
            <a:ext cx="2926080" cy="1234440"/>
          </a:xfrm>
          <a:prstGeom prst="rect">
            <a:avLst/>
          </a:prstGeom>
          <a:solidFill>
            <a:srgbClr val="EBF6F3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해석</a:t>
            </a:r>
          </a:p>
          <a:p>
            <a:pPr>
              <a:spcBef>
                <a:spcPts val="600"/>
              </a:spcBef>
            </a:pPr>
            <a:r>
              <a:rPr sz="900" b="0">
                <a:solidFill>
                  <a:srgbClr val="5C6965"/>
                </a:solidFill>
                <a:latin typeface="나눔스퀘어OTF_ac"/>
              </a:rPr>
              <a:t>PR curve는 실제 위험 고객이 적은 상황에서 precision과 recall의 trade-off를 더 직접적으로 보여준다.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3657600"/>
            <a:ext cx="2926080" cy="1143000"/>
          </a:xfrm>
          <a:prstGeom prst="rect">
            <a:avLst/>
          </a:prstGeom>
          <a:solidFill>
            <a:srgbClr val="EDF2FA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그래프 해석</a:t>
            </a:r>
          </a:p>
          <a:p>
            <a:pPr>
              <a:spcBef>
                <a:spcPts val="600"/>
              </a:spcBef>
            </a:pPr>
            <a:r>
              <a:rPr sz="900" b="0">
                <a:solidFill>
                  <a:srgbClr val="5C6965"/>
                </a:solidFill>
                <a:latin typeface="나눔스퀘어OTF_ac"/>
              </a:rPr>
              <a:t>모델 간 격차가 크지는 않지만, LogisticRegression과 LSTM은 상대적으로 낮고 tree/hybrid 계열이 상단 밴드를 형성한다.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ERROR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Confusion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23</a:t>
            </a:r>
          </a:p>
        </p:txBody>
      </p:sp>
      <p:pic>
        <p:nvPicPr>
          <p:cNvPr id="8" name="Picture 7" descr="final_hybridgru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18978"/>
            <a:ext cx="4572000" cy="36406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1874519"/>
            <a:ext cx="4572000" cy="21945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marL="228600" indent="-114300">
              <a:spcAft>
                <a:spcPts val="400"/>
              </a:spcAft>
              <a:defRPr sz="1100">
                <a:solidFill>
                  <a:srgbClr val="182321"/>
                </a:solidFill>
                <a:latin typeface="나눔스퀘어OTF_ac"/>
              </a:defRPr>
            </a:pPr>
            <a:r>
              <a:t>실제 지연 고객 = TP + FN = 829 + 360 = 1,189명</a:t>
            </a:r>
          </a:p>
          <a:p>
            <a:pPr marL="228600" indent="-114300">
              <a:spcAft>
                <a:spcPts val="400"/>
              </a:spcAft>
              <a:defRPr sz="1100">
                <a:solidFill>
                  <a:srgbClr val="182321"/>
                </a:solidFill>
                <a:latin typeface="나눔스퀘어OTF_ac"/>
              </a:defRPr>
            </a:pPr>
            <a:r>
              <a:t>Recall = TP / (TP + FN) = 829 / 1,189 = 0.6972</a:t>
            </a:r>
          </a:p>
          <a:p>
            <a:pPr marL="228600" indent="-114300">
              <a:spcAft>
                <a:spcPts val="400"/>
              </a:spcAft>
              <a:defRPr sz="1100">
                <a:solidFill>
                  <a:srgbClr val="182321"/>
                </a:solidFill>
                <a:latin typeface="나눔스퀘어OTF_ac"/>
              </a:defRPr>
            </a:pPr>
            <a:r>
              <a:t>즉 실제 지연 고객 중 약 69.7%를 탐지했다는 의미</a:t>
            </a:r>
          </a:p>
          <a:p>
            <a:pPr marL="228600" indent="-114300">
              <a:spcAft>
                <a:spcPts val="400"/>
              </a:spcAft>
              <a:defRPr sz="1100">
                <a:solidFill>
                  <a:srgbClr val="182321"/>
                </a:solidFill>
                <a:latin typeface="나눔스퀘어OTF_ac"/>
              </a:defRPr>
            </a:pPr>
            <a:r>
              <a:t>참고: FP 1,185명은 위험으로 예측했지만 실제 지연되지 않은 고객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4892040"/>
            <a:ext cx="44348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6B60"/>
                </a:solidFill>
                <a:latin typeface="나눔스퀘어OTF_ac ExtraBold"/>
              </a:rPr>
              <a:t>이 슬라이드에서는 전체 matrix보다 Recall의 분자와 분모를 중심으로 해석한다.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오류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64208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93776"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그룹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target_gap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recent3 gap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last gap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gap_trend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182321"/>
                          </a:solidFill>
                          <a:latin typeface="나눔스퀘어OTF_ac ExtraBold"/>
                        </a:rPr>
                        <a:t>order_freq</a:t>
                      </a:r>
                    </a:p>
                  </a:txBody>
                  <a:tcPr marL="36576" marR="36576" marT="27432" marB="27432">
                    <a:solidFill>
                      <a:srgbClr val="EBF6F3"/>
                    </a:solidFill>
                  </a:tcPr>
                </a:tc>
              </a:tr>
              <a:tr h="493776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FN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23.29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7.84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7.72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0.32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0.14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FP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8.32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13.1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13.75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1.54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0.11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TN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5.96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6.91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6.84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0.17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0.17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TP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25.34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14.35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15.46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2.64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00" b="0">
                          <a:solidFill>
                            <a:srgbClr val="5C6965"/>
                          </a:solidFill>
                          <a:latin typeface="나눔스퀘어OTF_ac"/>
                        </a:rPr>
                        <a:t>0.11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4526280"/>
            <a:ext cx="9875520" cy="10058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marL="228600" indent="-114300">
              <a:spcAft>
                <a:spcPts val="400"/>
              </a:spcAft>
              <a:defRPr sz="1000">
                <a:solidFill>
                  <a:srgbClr val="182321"/>
                </a:solidFill>
                <a:latin typeface="나눔스퀘어OTF_ac"/>
              </a:defRPr>
            </a:pPr>
            <a:r>
              <a:t>FP: 실제 지연은 아니지만 최근 gap 신호 때문에 위험으로 판단된 고객</a:t>
            </a:r>
          </a:p>
          <a:p>
            <a:pPr marL="228600" indent="-114300">
              <a:spcAft>
                <a:spcPts val="400"/>
              </a:spcAft>
              <a:defRPr sz="1000">
                <a:solidFill>
                  <a:srgbClr val="182321"/>
                </a:solidFill>
                <a:latin typeface="나눔스퀘어OTF_ac"/>
              </a:defRPr>
            </a:pPr>
            <a:r>
              <a:t>FN: 실제 지연 고객이지만 이전 이력에서 강한 지연 신호가 약했던 고객</a:t>
            </a:r>
          </a:p>
          <a:p>
            <a:pPr marL="228600" indent="-114300">
              <a:spcAft>
                <a:spcPts val="400"/>
              </a:spcAft>
              <a:defRPr sz="1000">
                <a:solidFill>
                  <a:srgbClr val="182321"/>
                </a:solidFill>
                <a:latin typeface="나눔스퀘어OTF_ac"/>
              </a:defRPr>
            </a:pPr>
            <a:r>
              <a:t>이를 통해 어떤 주문 패턴에서 오탐과 미탐이 발생하는지 확인할 수 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FEATURE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Feature 보조 해석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25</a:t>
            </a:r>
          </a:p>
        </p:txBody>
      </p:sp>
      <p:pic>
        <p:nvPicPr>
          <p:cNvPr id="8" name="Picture 7" descr="feature_importance_m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80" y="1645920"/>
            <a:ext cx="487680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1874519"/>
            <a:ext cx="4389120" cy="1737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marL="228600" indent="-114300">
              <a:spcAft>
                <a:spcPts val="400"/>
              </a:spcAft>
              <a:defRPr sz="1000">
                <a:solidFill>
                  <a:srgbClr val="182321"/>
                </a:solidFill>
                <a:latin typeface="나눔스퀘어OTF_ac"/>
              </a:defRPr>
            </a:pPr>
            <a:r>
              <a:t>tabular MLP 기준의 보조 해석이다.</a:t>
            </a:r>
          </a:p>
          <a:p>
            <a:pPr marL="228600" indent="-114300">
              <a:spcAft>
                <a:spcPts val="400"/>
              </a:spcAft>
              <a:defRPr sz="1000">
                <a:solidFill>
                  <a:srgbClr val="182321"/>
                </a:solidFill>
                <a:latin typeface="나눔스퀘어OTF_ac"/>
              </a:defRPr>
            </a:pPr>
            <a:r>
              <a:t>상위 신호: active_span_days, recent_3_avg_gap, total_orders_before_target</a:t>
            </a:r>
          </a:p>
          <a:p>
            <a:pPr marL="228600" indent="-114300">
              <a:spcAft>
                <a:spcPts val="400"/>
              </a:spcAft>
              <a:defRPr sz="1000">
                <a:solidFill>
                  <a:srgbClr val="182321"/>
                </a:solidFill>
                <a:latin typeface="나눔스퀘어OTF_ac"/>
              </a:defRPr>
            </a:pPr>
            <a:r>
              <a:t>최종 HybridGRU의 직접 해석은 아니다.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4343400"/>
            <a:ext cx="42519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16B60"/>
                </a:solidFill>
                <a:latin typeface="나눔스퀘어OTF_ac ExtraBold"/>
              </a:rPr>
              <a:t>active_span_days = target 이전 첫 주문부터 마지막 주문까지의 고객 활동 기간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RESULT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성과 해석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194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16B60"/>
                </a:solidFill>
                <a:latin typeface="나눔스퀘어OTF_ac ExtraBold"/>
              </a:rPr>
              <a:t>1,189명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21945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C6965"/>
                </a:solidFill>
                <a:latin typeface="나눔스퀘어OTF_ac"/>
              </a:rPr>
              <a:t>test set 실제 지연 고객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783080"/>
            <a:ext cx="20116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2A5484"/>
                </a:solidFill>
                <a:latin typeface="나눔스퀘어OTF_ac ExtraBold"/>
              </a:rPr>
              <a:t>829명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30552"/>
            <a:ext cx="2011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C6965"/>
                </a:solidFill>
                <a:latin typeface="나눔스퀘어OTF_ac"/>
              </a:rPr>
              <a:t>HybridGRU가 탐지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783080"/>
            <a:ext cx="17373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16B60"/>
                </a:solidFill>
                <a:latin typeface="나눔스퀘어OTF_ac ExtraBold"/>
              </a:rPr>
              <a:t>69.7%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130552"/>
            <a:ext cx="17373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C6965"/>
                </a:solidFill>
                <a:latin typeface="나눔스퀘어OTF_ac"/>
              </a:rPr>
              <a:t>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783080"/>
            <a:ext cx="17373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2A5484"/>
                </a:solidFill>
                <a:latin typeface="나눔스퀘어OTF_ac ExtraBold"/>
              </a:rPr>
              <a:t>41.2%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130552"/>
            <a:ext cx="17373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C6965"/>
                </a:solidFill>
                <a:latin typeface="나눔스퀘어OTF_ac"/>
              </a:rPr>
              <a:t>Precision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108960"/>
            <a:ext cx="4892040" cy="1143000"/>
          </a:xfrm>
          <a:prstGeom prst="rect">
            <a:avLst/>
          </a:prstGeom>
          <a:solidFill>
            <a:srgbClr val="EBF6F3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결과를 쉽게 풀면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5C6965"/>
                </a:solidFill>
                <a:latin typeface="나눔스퀘어OTF_ac"/>
              </a:rPr>
              <a:t>실제로 지연된 고객 1,189명 중 829명을 위험 고객으로 잡아냈다.
즉, 위험 고객을 놓치지 않는 관점에서는 약 69.7%를 탐지했다.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3108960"/>
            <a:ext cx="4892040" cy="1143000"/>
          </a:xfrm>
          <a:prstGeom prst="rect">
            <a:avLst/>
          </a:prstGeom>
          <a:solidFill>
            <a:srgbClr val="EDF2FA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주의해서 볼 점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5C6965"/>
                </a:solidFill>
                <a:latin typeface="나눔스퀘어OTF_ac"/>
              </a:rPr>
              <a:t>위험으로 예측한 고객 중 실제 지연 고객 비율은 41.2%이다.
따라서 모든 예측이 맞는 모델이라기보다, 위험 고객 후보를 우선 선별하는 모델로 해석한다.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736592"/>
            <a:ext cx="98755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16B60"/>
                </a:solidFill>
                <a:latin typeface="나눔스퀘어OTF_ac ExtraBold"/>
              </a:rPr>
              <a:t>Precision 41.2%는 전체 지연 고객 비율 18.65%와 함께 해석해야 한다.
위험 예측 고객군에는 실제 지연 고객이 평균보다 약 2.2배 더 많이 포함되어 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376672"/>
            <a:ext cx="98755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16B60"/>
                </a:solidFill>
                <a:latin typeface="나눔스퀘어OTF_ac ExtraBold"/>
              </a:rPr>
              <a:t>활용 예: 모든 고객에게 동일하게 쿠폰이나 알림을 보내기보다, 모델이 위험하다고 본 고객부터 먼저 확인하는 방식으로 사용할 수 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897880"/>
            <a:ext cx="98755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6965"/>
                </a:solidFill>
                <a:latin typeface="나눔스퀘어OTF_ac"/>
              </a:rPr>
              <a:t>※ 실제 운영 효과를 입증한 것은 아니며, 고객 유지 전략 후보를 선별할 가능성을 확인한 결과다.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확장 방향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246120" cy="1417320"/>
          </a:xfrm>
          <a:prstGeom prst="rect">
            <a:avLst/>
          </a:prstGeom>
          <a:solidFill>
            <a:srgbClr val="EBF6F3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시간 기준 검증</a:t>
            </a:r>
          </a:p>
          <a:p>
            <a:pPr>
              <a:spcBef>
                <a:spcPts val="600"/>
              </a:spcBef>
            </a:pPr>
            <a:r>
              <a:rPr sz="900" b="0">
                <a:solidFill>
                  <a:srgbClr val="5C6965"/>
                </a:solidFill>
                <a:latin typeface="나눔스퀘어OTF_ac"/>
              </a:rPr>
              <a:t>현재는 동일 split에서 모델 간 공정 비교를 수행했다.
실제 서비스 적용 단계에서는 과거 시점 데이터로 미래 지연을 예측하는 검증을 추가할 수 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783080"/>
            <a:ext cx="3246120" cy="1417320"/>
          </a:xfrm>
          <a:prstGeom prst="rect">
            <a:avLst/>
          </a:prstGeom>
          <a:solidFill>
            <a:srgbClr val="EDF2FA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개인별 구매 주기 반영</a:t>
            </a:r>
          </a:p>
          <a:p>
            <a:pPr>
              <a:spcBef>
                <a:spcPts val="600"/>
              </a:spcBef>
            </a:pPr>
            <a:r>
              <a:rPr sz="900" b="0">
                <a:solidFill>
                  <a:srgbClr val="5C6965"/>
                </a:solidFill>
                <a:latin typeface="나눔스퀘어OTF_ac"/>
              </a:rPr>
              <a:t>이번에는 해석이 쉬운 공통 기준 target_gap &gt; 15를 사용했다.
이후에는 고객별 평균 구매 주기 대비 얼마나 늦어졌는지도 함께 비교할 수 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783080"/>
            <a:ext cx="3246120" cy="1417320"/>
          </a:xfrm>
          <a:prstGeom prst="rect">
            <a:avLst/>
          </a:prstGeom>
          <a:solidFill>
            <a:srgbClr val="FCF2E7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상품/장바구니 정보 추가</a:t>
            </a:r>
          </a:p>
          <a:p>
            <a:pPr>
              <a:spcBef>
                <a:spcPts val="600"/>
              </a:spcBef>
            </a:pPr>
            <a:r>
              <a:rPr sz="900" b="0">
                <a:solidFill>
                  <a:srgbClr val="5C6965"/>
                </a:solidFill>
                <a:latin typeface="나눔스퀘어OTF_ac"/>
              </a:rPr>
              <a:t>현재 모델은 주문 간격과 순서 정보를 중심으로 구성했다.
상품군, basket size, reorder ratio 등을 추가하면 예측 신호를 더 넓힐 수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60520"/>
            <a:ext cx="99669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16B60"/>
                </a:solidFill>
                <a:latin typeface="나눔스퀘어OTF_ac ExtraBold"/>
              </a:rPr>
              <a:t>정리하면, 현재 실험은 주문 이력만으로도 지연 위험 고객을 어느 정도 우선순위화할 수 있음을 확인했고,
최종적으로는 더 엄격한 검증 방식과 더 풍부한 feature로 확장할 수 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5285232"/>
            <a:ext cx="96926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C6965"/>
                </a:solidFill>
                <a:latin typeface="나눔스퀘어OTF_ac"/>
              </a:rPr>
              <a:t>현재 결과: HybridGRU F1-score 0.5176, Recall 0.6972 · 실제 지연 고객 1,189명 중 829명 탐지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411480"/>
            <a:ext cx="256032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16B60"/>
                </a:solidFill>
                <a:latin typeface="나눔스퀘어OTF_ac ExtraBold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76072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116B60"/>
                </a:solidFill>
                <a:latin typeface="나눔스퀘어OTF_ac ExtraBold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1381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2321"/>
                </a:solidFill>
                <a:latin typeface="나눔스퀘어OTF_ac ExtraBold"/>
              </a:rPr>
              <a:t>결론 및 활용 가능성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11109960" cy="9144"/>
          </a:xfrm>
          <a:prstGeom prst="rect">
            <a:avLst/>
          </a:prstGeom>
          <a:solidFill>
            <a:srgbClr val="E5E9E8"/>
          </a:solidFill>
          <a:ln>
            <a:solidFill>
              <a:srgbClr val="E5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5C6965"/>
                </a:solidFill>
                <a:latin typeface="나눔스퀘어OTF_ac"/>
              </a:rPr>
              <a:t>Repurchase Delay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16B60"/>
                </a:solidFill>
                <a:latin typeface="나눔스퀘어OTF_ac ExtraBold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27632"/>
            <a:ext cx="10104120" cy="1417320"/>
          </a:xfrm>
          <a:prstGeom prst="rect">
            <a:avLst/>
          </a:prstGeom>
          <a:solidFill>
            <a:srgbClr val="EBF6F3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400" b="1">
                <a:solidFill>
                  <a:srgbClr val="182321"/>
                </a:solidFill>
                <a:latin typeface="나눔스퀘어OTF_ac ExtraBold"/>
              </a:rPr>
              <a:t>최종 요약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5C6965"/>
                </a:solidFill>
                <a:latin typeface="나눔스퀘어OTF_ac"/>
              </a:rPr>
              <a:t>본 프로젝트는 고빈도 고객의 과거 주문 이력을 바탕으로 다음 주문의 재구매 지연 위험을 예측하는 이진 분류 문제를 정의했다.
정형 feature, sequence-only, hybrid 딥러닝 모델을 비교한 결과, HybridGRU는 최근 주문 흐름과 고객 요약 feature를 함께 사용해 sequence-only 모델보다 개선된 성능을 보였고, 같은 split에서 F1 기준 가장 균형적인 결과를 보였다.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493008"/>
            <a:ext cx="23317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16B60"/>
                </a:solidFill>
                <a:latin typeface="나눔스퀘어OTF_ac ExtraBold"/>
              </a:rPr>
              <a:t>0.5176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840480"/>
            <a:ext cx="23317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C6965"/>
                </a:solidFill>
                <a:latin typeface="나눔스퀘어OTF_ac"/>
              </a:rPr>
              <a:t>HybridGRU F1-score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3493008"/>
            <a:ext cx="27889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2A5484"/>
                </a:solidFill>
                <a:latin typeface="나눔스퀘어OTF_ac ExtraBold"/>
              </a:rPr>
              <a:t>829명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840480"/>
            <a:ext cx="2788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C6965"/>
                </a:solidFill>
                <a:latin typeface="나눔스퀘어OTF_ac"/>
              </a:rPr>
              <a:t>실제 지연 고객 1,189명 중 탐지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4315968"/>
            <a:ext cx="69494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C6965"/>
                </a:solidFill>
                <a:latin typeface="나눔스퀘어OTF_ac"/>
              </a:rPr>
              <a:t>CatBoost와의 차이는 크지 않으므로 압도적 우위가 아니라,
문제 구조에 적합한 딥러닝 최종 후보로 해석했다.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138928"/>
            <a:ext cx="9875520" cy="868680"/>
          </a:xfrm>
          <a:prstGeom prst="rect">
            <a:avLst/>
          </a:prstGeom>
          <a:solidFill>
            <a:srgbClr val="EBF6F3"/>
          </a:solidFill>
          <a:ln>
            <a:solidFill>
              <a:srgbClr val="D5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182321"/>
                </a:solidFill>
                <a:latin typeface="나눔스퀘어OTF_ac ExtraBold"/>
              </a:rPr>
              <a:t>기대 효과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5C6965"/>
                </a:solidFill>
                <a:latin typeface="나눔스퀘어OTF_ac"/>
              </a:rPr>
              <a:t>위험 score를 기준으로 고객을 정렬하면, 모든 고객에게 동일하게 대응하기보다 쿠폰, 알림, 추천 캠페인을 먼저 적용할 고객군을 선별할 수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